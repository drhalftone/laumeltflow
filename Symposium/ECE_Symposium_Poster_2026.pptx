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8404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840480"/>
            <a:ext cx="43891200" cy="164592"/>
          </a:xfrm>
          <a:prstGeom prst="rect">
            <a:avLst/>
          </a:prstGeom>
          <a:solidFill>
            <a:srgbClr val="C89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11480"/>
            <a:ext cx="42793920" cy="2011680"/>
          </a:xfrm>
          <a:prstGeom prst="rect">
            <a:avLst/>
          </a:prstGeom>
          <a:noFill/>
        </p:spPr>
        <p:txBody>
          <a:bodyPr wrap="square" lIns="137160" rIns="137160" tIns="73152" bIns="73152" anchor="t">
            <a:spAutoFit/>
          </a:bodyPr>
          <a:lstStyle/>
          <a:p>
            <a:pPr algn="ctr"/>
            <a:r>
              <a:rPr sz="6600" b="1">
                <a:solidFill>
                  <a:srgbClr val="FFFFFF"/>
                </a:solidFill>
                <a:latin typeface="Calibri"/>
              </a:rPr>
              <a:t>Message-Passing Graph Neural Network as a Surrogate for</a:t>
            </a:r>
          </a:p>
          <a:p>
            <a:pPr algn="ctr"/>
            <a:r>
              <a:rPr sz="6600" b="1">
                <a:solidFill>
                  <a:srgbClr val="FFFFFF"/>
                </a:solidFill>
                <a:latin typeface="Calibri"/>
              </a:rPr>
              <a:t>Variable-Length 1D Finite Element Bead Chain Simulations</a:t>
            </a:r>
          </a:p>
        </p:txBody>
      </p:sp>
      <p:sp>
        <p:nvSpPr>
          <p:cNvPr id="6" name="TextBox 5"/>
          <p:cNvSpPr txBox="1"/>
          <p:nvPr/>
        </p:nvSpPr>
        <p:spPr>
          <a:xfrm>
            <a:off x="548640" y="2514600"/>
            <a:ext cx="42793920" cy="640080"/>
          </a:xfrm>
          <a:prstGeom prst="rect">
            <a:avLst/>
          </a:prstGeom>
          <a:noFill/>
        </p:spPr>
        <p:txBody>
          <a:bodyPr wrap="square" lIns="137160" rIns="137160" tIns="73152" bIns="73152" anchor="t">
            <a:spAutoFit/>
          </a:bodyPr>
          <a:lstStyle/>
          <a:p>
            <a:pPr algn="ctr"/>
            <a:r>
              <a:rPr sz="4000" b="1">
                <a:solidFill>
                  <a:srgbClr val="FFFFFF"/>
                </a:solidFill>
                <a:latin typeface="Calibri"/>
              </a:rPr>
              <a:t>Grey L. Goodwin    |    Daniel L. Lau, PhD.</a:t>
            </a:r>
          </a:p>
        </p:txBody>
      </p:sp>
      <p:sp>
        <p:nvSpPr>
          <p:cNvPr id="7" name="TextBox 6"/>
          <p:cNvSpPr txBox="1"/>
          <p:nvPr/>
        </p:nvSpPr>
        <p:spPr>
          <a:xfrm>
            <a:off x="548640" y="3063240"/>
            <a:ext cx="42793920" cy="731520"/>
          </a:xfrm>
          <a:prstGeom prst="rect">
            <a:avLst/>
          </a:prstGeom>
          <a:noFill/>
        </p:spPr>
        <p:txBody>
          <a:bodyPr wrap="square" lIns="137160" rIns="137160" tIns="73152" bIns="73152" anchor="t">
            <a:spAutoFit/>
          </a:bodyPr>
          <a:lstStyle/>
          <a:p>
            <a:pPr algn="ctr"/>
            <a:r>
              <a:rPr sz="2400" b="0">
                <a:solidFill>
                  <a:srgbClr val="FFFFFF"/>
                </a:solidFill>
                <a:latin typeface="Calibri"/>
              </a:rPr>
              <a:t>Department of Electrical and Computer Engineering  ·  University of Kentucky  ·  grey.goodwin@uky.edu  ·  dllau@uky.edu</a:t>
            </a:r>
          </a:p>
        </p:txBody>
      </p:sp>
      <p:sp>
        <p:nvSpPr>
          <p:cNvPr id="8" name="Rectangle 7"/>
          <p:cNvSpPr/>
          <p:nvPr/>
        </p:nvSpPr>
        <p:spPr>
          <a:xfrm>
            <a:off x="548640" y="4663440"/>
            <a:ext cx="13959840" cy="27066240"/>
          </a:xfrm>
          <a:prstGeom prst="rect">
            <a:avLst/>
          </a:prstGeom>
          <a:solidFill>
            <a:srgbClr val="F2F4F8"/>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965680" y="4663440"/>
            <a:ext cx="13959840" cy="27066240"/>
          </a:xfrm>
          <a:prstGeom prst="rect">
            <a:avLst/>
          </a:prstGeom>
          <a:solidFill>
            <a:srgbClr val="F2F4F8"/>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382720" y="4663440"/>
            <a:ext cx="13959840" cy="27066240"/>
          </a:xfrm>
          <a:prstGeom prst="rect">
            <a:avLst/>
          </a:prstGeom>
          <a:solidFill>
            <a:srgbClr val="F2F4F8"/>
          </a:solidFill>
          <a:ln w="635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84632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Abstract</a:t>
            </a:r>
          </a:p>
        </p:txBody>
      </p:sp>
      <p:sp>
        <p:nvSpPr>
          <p:cNvPr id="13" name="TextBox 12"/>
          <p:cNvSpPr txBox="1"/>
          <p:nvPr/>
        </p:nvSpPr>
        <p:spPr>
          <a:xfrm>
            <a:off x="731520" y="5486400"/>
            <a:ext cx="13594080" cy="5943600"/>
          </a:xfrm>
          <a:prstGeom prst="rect">
            <a:avLst/>
          </a:prstGeom>
          <a:noFill/>
        </p:spPr>
        <p:txBody>
          <a:bodyPr wrap="square" lIns="137160" rIns="137160" tIns="73152" bIns="73152" anchor="t">
            <a:spAutoFit/>
          </a:bodyPr>
          <a:lstStyle/>
          <a:p>
            <a:pPr algn="l"/>
            <a:r>
              <a:rPr sz="1700" b="0">
                <a:solidFill>
                  <a:srgbClr val="111111"/>
                </a:solidFill>
                <a:latin typeface="Calibri"/>
              </a:rPr>
              <a:t>We train a message-passing graph neural network (BeadMPGNN) as a per-timestep surrogate for a 1D finite element bead chain. A key finding: even a well-designed model fails without the right training data. Sampling neighbor positions in polar coordinates near the rest length was necessary for stable rollouts, while uniform Cartesian sampling produced models that diverged.</a:t>
            </a:r>
          </a:p>
          <a:p>
            <a:pPr algn="l"/>
            <a:r>
              <a:rPr sz="1700" b="0">
                <a:solidFill>
                  <a:srgbClr val="111111"/>
                </a:solidFill>
                <a:latin typeface="Calibri"/>
              </a:rPr>
              <a:t/>
            </a:r>
          </a:p>
          <a:p>
            <a:pPr algn="l"/>
            <a:r>
              <a:rPr sz="1700" b="0">
                <a:solidFill>
                  <a:srgbClr val="111111"/>
                </a:solidFill>
                <a:latin typeface="Calibri"/>
              </a:rPr>
              <a:t>We restructure an initial fixed-size MLP as a true MPGNN with separate node and edge encoders, ghost masking for endpoints, and weight sharing across beads. One trained model runs on chains of any length. Trained on 1M volume-sampled per-bead scenarios spanning 8–32 beads and random tapers, it generalizes to chain lengths, orientations, and velocities unseen during training.</a:t>
            </a:r>
          </a:p>
        </p:txBody>
      </p:sp>
      <p:sp>
        <p:nvSpPr>
          <p:cNvPr id="14" name="Rectangle 13"/>
          <p:cNvSpPr/>
          <p:nvPr/>
        </p:nvSpPr>
        <p:spPr>
          <a:xfrm>
            <a:off x="731520" y="1152144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152144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Problem Setup</a:t>
            </a:r>
          </a:p>
        </p:txBody>
      </p:sp>
      <p:sp>
        <p:nvSpPr>
          <p:cNvPr id="16" name="TextBox 15"/>
          <p:cNvSpPr txBox="1"/>
          <p:nvPr/>
        </p:nvSpPr>
        <p:spPr>
          <a:xfrm>
            <a:off x="731520" y="12161520"/>
            <a:ext cx="13594080" cy="3840480"/>
          </a:xfrm>
          <a:prstGeom prst="rect">
            <a:avLst/>
          </a:prstGeom>
          <a:noFill/>
        </p:spPr>
        <p:txBody>
          <a:bodyPr wrap="square" lIns="137160" rIns="137160" tIns="73152" bIns="73152" anchor="t">
            <a:spAutoFit/>
          </a:bodyPr>
          <a:lstStyle/>
          <a:p>
            <a:pPr algn="l"/>
            <a:r>
              <a:rPr sz="1700" b="0">
                <a:solidFill>
                  <a:srgbClr val="111111"/>
                </a:solidFill>
                <a:latin typeface="Calibri"/>
              </a:rPr>
              <a:t>• Chain of N mass nodes connected by N−1 spring rod elements.</a:t>
            </a:r>
          </a:p>
          <a:p>
            <a:pPr algn="l"/>
            <a:r>
              <a:rPr sz="1700" b="0">
                <a:solidFill>
                  <a:srgbClr val="111111"/>
                </a:solidFill>
                <a:latin typeface="Calibri"/>
              </a:rPr>
              <a:t>• Tapered mass distribution from heavy anchor to light tip (ratio r = m₀/m_{N−1}).</a:t>
            </a:r>
          </a:p>
          <a:p>
            <a:pPr algn="l"/>
            <a:r>
              <a:rPr sz="1700" b="0">
                <a:solidFill>
                  <a:srgbClr val="111111"/>
                </a:solidFill>
                <a:latin typeface="Calibri"/>
              </a:rPr>
              <a:t>• Forces per bead: gravity, Hooke's-law spring forces from each connected neighbor, viscous rod damping, and a small global velocity drag.</a:t>
            </a:r>
          </a:p>
          <a:p>
            <a:pPr algn="l"/>
            <a:r>
              <a:rPr sz="1700" b="0">
                <a:solidFill>
                  <a:srgbClr val="111111"/>
                </a:solidFill>
                <a:latin typeface="Calibri"/>
              </a:rPr>
              <a:t>• Reference solver uses symplectic Euler integration (Δt = 1e−4 s).</a:t>
            </a:r>
          </a:p>
          <a:p>
            <a:pPr algn="l"/>
            <a:r>
              <a:rPr sz="1700" b="0">
                <a:solidFill>
                  <a:srgbClr val="111111"/>
                </a:solidFill>
                <a:latin typeface="Calibri"/>
              </a:rPr>
              <a:t>• Physics is strictly local: force on bead i depends only on i and its immediate neighbors i−1, i+1.</a:t>
            </a:r>
          </a:p>
        </p:txBody>
      </p:sp>
      <p:sp>
        <p:nvSpPr>
          <p:cNvPr id="17" name="Rectangle 16"/>
          <p:cNvSpPr/>
          <p:nvPr/>
        </p:nvSpPr>
        <p:spPr>
          <a:xfrm>
            <a:off x="731520" y="1609344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609344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MPGNN Architecture</a:t>
            </a:r>
          </a:p>
        </p:txBody>
      </p:sp>
      <p:sp>
        <p:nvSpPr>
          <p:cNvPr id="19" name="TextBox 18"/>
          <p:cNvSpPr txBox="1"/>
          <p:nvPr/>
        </p:nvSpPr>
        <p:spPr>
          <a:xfrm>
            <a:off x="731520" y="16733520"/>
            <a:ext cx="13594080" cy="4023360"/>
          </a:xfrm>
          <a:prstGeom prst="rect">
            <a:avLst/>
          </a:prstGeom>
          <a:noFill/>
        </p:spPr>
        <p:txBody>
          <a:bodyPr wrap="square" lIns="137160" rIns="137160" tIns="73152" bIns="73152" anchor="t">
            <a:spAutoFit/>
          </a:bodyPr>
          <a:lstStyle/>
          <a:p>
            <a:pPr algn="l"/>
            <a:r>
              <a:rPr sz="1700" b="0">
                <a:solidFill>
                  <a:srgbClr val="111111"/>
                </a:solidFill>
                <a:latin typeface="Calibri"/>
              </a:rPr>
              <a:t>Five learned components, all weight-shared across beads:</a:t>
            </a:r>
          </a:p>
          <a:p>
            <a:pPr algn="l"/>
            <a:r>
              <a:rPr sz="1700" b="0">
                <a:solidFill>
                  <a:srgbClr val="111111"/>
                </a:solidFill>
                <a:latin typeface="Calibri"/>
              </a:rPr>
              <a:t>• Node encoder → 64-d hidden from 4-d node features</a:t>
            </a:r>
          </a:p>
          <a:p>
            <a:pPr algn="l"/>
            <a:r>
              <a:rPr sz="1700" b="0">
                <a:solidFill>
                  <a:srgbClr val="111111"/>
                </a:solidFill>
                <a:latin typeface="Calibri"/>
              </a:rPr>
              <a:t>• Edge encoder → 64-d hidden from 6-d rel. edge features</a:t>
            </a:r>
          </a:p>
          <a:p>
            <a:pPr algn="l"/>
            <a:r>
              <a:rPr sz="1700" b="0">
                <a:solidFill>
                  <a:srgbClr val="111111"/>
                </a:solidFill>
                <a:latin typeface="Calibri"/>
              </a:rPr>
              <a:t>• Message MLP → per-edge 64-d message</a:t>
            </a:r>
          </a:p>
          <a:p>
            <a:pPr algn="l"/>
            <a:r>
              <a:rPr sz="1700" b="0">
                <a:solidFill>
                  <a:srgbClr val="111111"/>
                </a:solidFill>
                <a:latin typeface="Calibri"/>
              </a:rPr>
              <a:t>• Node update → [h_self ∥ m_left ∥ m_right] → 64-d</a:t>
            </a:r>
          </a:p>
          <a:p>
            <a:pPr algn="l"/>
            <a:r>
              <a:rPr sz="1700" b="0">
                <a:solidFill>
                  <a:srgbClr val="111111"/>
                </a:solidFill>
                <a:latin typeface="Calibri"/>
              </a:rPr>
              <a:t>• Output head → 4-d Δstate (Δx, Δy, Δvx, Δvy)</a:t>
            </a:r>
          </a:p>
          <a:p>
            <a:pPr algn="l"/>
            <a:r>
              <a:rPr sz="1700" b="0">
                <a:solidFill>
                  <a:srgbClr val="111111"/>
                </a:solidFill>
                <a:latin typeface="Calibri"/>
              </a:rPr>
              <a:t>Ghost masking zeros messages from absent endpoint neighbors. 80,324 params; the same model runs on any chain length.</a:t>
            </a:r>
          </a:p>
        </p:txBody>
      </p:sp>
      <p:pic>
        <p:nvPicPr>
          <p:cNvPr id="20" name="Picture 19" descr="architecture_mpgnn_only.png"/>
          <p:cNvPicPr>
            <a:picLocks noChangeAspect="1"/>
          </p:cNvPicPr>
          <p:nvPr/>
        </p:nvPicPr>
        <p:blipFill>
          <a:blip r:embed="rId2"/>
          <a:stretch>
            <a:fillRect/>
          </a:stretch>
        </p:blipFill>
        <p:spPr>
          <a:xfrm>
            <a:off x="1635943" y="20848320"/>
            <a:ext cx="11785233" cy="10698480"/>
          </a:xfrm>
          <a:prstGeom prst="rect">
            <a:avLst/>
          </a:prstGeom>
        </p:spPr>
      </p:pic>
      <p:sp>
        <p:nvSpPr>
          <p:cNvPr id="21" name="Rectangle 20"/>
          <p:cNvSpPr/>
          <p:nvPr/>
        </p:nvSpPr>
        <p:spPr>
          <a:xfrm>
            <a:off x="15148560" y="484632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148560" y="484632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Volume-Sampled Training Pipeline</a:t>
            </a:r>
          </a:p>
        </p:txBody>
      </p:sp>
      <p:pic>
        <p:nvPicPr>
          <p:cNvPr id="23" name="Picture 22" descr="pipeline_visualization.png"/>
          <p:cNvPicPr>
            <a:picLocks noChangeAspect="1"/>
          </p:cNvPicPr>
          <p:nvPr/>
        </p:nvPicPr>
        <p:blipFill>
          <a:blip r:embed="rId3"/>
          <a:stretch>
            <a:fillRect/>
          </a:stretch>
        </p:blipFill>
        <p:spPr>
          <a:xfrm>
            <a:off x="15148560" y="5721503"/>
            <a:ext cx="13594080" cy="8216594"/>
          </a:xfrm>
          <a:prstGeom prst="rect">
            <a:avLst/>
          </a:prstGeom>
        </p:spPr>
      </p:pic>
      <p:sp>
        <p:nvSpPr>
          <p:cNvPr id="24" name="TextBox 23"/>
          <p:cNvSpPr txBox="1"/>
          <p:nvPr/>
        </p:nvSpPr>
        <p:spPr>
          <a:xfrm>
            <a:off x="15148560" y="14218920"/>
            <a:ext cx="13594080" cy="1188720"/>
          </a:xfrm>
          <a:prstGeom prst="rect">
            <a:avLst/>
          </a:prstGeom>
          <a:noFill/>
        </p:spPr>
        <p:txBody>
          <a:bodyPr wrap="square" lIns="137160" rIns="137160" tIns="73152" bIns="73152" anchor="t">
            <a:spAutoFit/>
          </a:bodyPr>
          <a:lstStyle/>
          <a:p>
            <a:pPr algn="l"/>
            <a:r>
              <a:rPr sz="1500" b="0">
                <a:solidFill>
                  <a:srgbClr val="444444"/>
                </a:solidFill>
                <a:latin typeface="Calibri"/>
              </a:rPr>
              <a:t>Each sample is an independent random bead-level scenario: random N ∈ [8, 32], taper ratio r ∈ [1, 10], polar-sampled neighbors near rest length. Physics solved analytically; no trajectories recorded. Dataset: 1,000,000 samples.</a:t>
            </a:r>
          </a:p>
        </p:txBody>
      </p:sp>
      <p:sp>
        <p:nvSpPr>
          <p:cNvPr id="25" name="Rectangle 24"/>
          <p:cNvSpPr/>
          <p:nvPr/>
        </p:nvSpPr>
        <p:spPr>
          <a:xfrm>
            <a:off x="15148560" y="1549908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148560" y="1549908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Why Volume Sampling</a:t>
            </a:r>
          </a:p>
        </p:txBody>
      </p:sp>
      <p:sp>
        <p:nvSpPr>
          <p:cNvPr id="27" name="TextBox 26"/>
          <p:cNvSpPr txBox="1"/>
          <p:nvPr/>
        </p:nvSpPr>
        <p:spPr>
          <a:xfrm>
            <a:off x="15148560" y="16139160"/>
            <a:ext cx="13594080" cy="5486400"/>
          </a:xfrm>
          <a:prstGeom prst="rect">
            <a:avLst/>
          </a:prstGeom>
          <a:noFill/>
        </p:spPr>
        <p:txBody>
          <a:bodyPr wrap="square" lIns="137160" rIns="137160" tIns="73152" bIns="73152" anchor="t">
            <a:spAutoFit/>
          </a:bodyPr>
          <a:lstStyle/>
          <a:p>
            <a:pPr algn="l"/>
            <a:r>
              <a:rPr sz="1700" b="0">
                <a:solidFill>
                  <a:srgbClr val="111111"/>
                </a:solidFill>
                <a:latin typeface="Calibri"/>
              </a:rPr>
              <a:t>Trajectory-recorded data traces a thin path through state space. During rollout, small prediction errors push the chain off this path into states the model has never seen — errors compound and the simulation diverges.</a:t>
            </a:r>
          </a:p>
          <a:p>
            <a:pPr algn="l"/>
            <a:r>
              <a:rPr sz="1700" b="0">
                <a:solidFill>
                  <a:srgbClr val="111111"/>
                </a:solidFill>
                <a:latin typeface="Calibri"/>
              </a:rPr>
              <a:t/>
            </a:r>
          </a:p>
          <a:p>
            <a:pPr algn="l"/>
            <a:r>
              <a:rPr sz="1700" b="0">
                <a:solidFill>
                  <a:srgbClr val="111111"/>
                </a:solidFill>
                <a:latin typeface="Calibri"/>
              </a:rPr>
              <a:t>Volume sampling fills the reachable state space uniformly. Every training sample has a physically realistic rod length (±5% of ℓ₀), so the model learns force magnitudes matched to what it sees at inference.</a:t>
            </a:r>
          </a:p>
          <a:p>
            <a:pPr algn="l"/>
            <a:r>
              <a:rPr sz="1700" b="0">
                <a:solidFill>
                  <a:srgbClr val="111111"/>
                </a:solidFill>
                <a:latin typeface="Calibri"/>
              </a:rPr>
              <a:t/>
            </a:r>
          </a:p>
          <a:p>
            <a:pPr algn="l"/>
            <a:r>
              <a:rPr sz="1700" b="0">
                <a:solidFill>
                  <a:srgbClr val="111111"/>
                </a:solidFill>
                <a:latin typeface="Calibri"/>
              </a:rPr>
              <a:t>• Cartesian uniform sampling → stable loss, diverging rollouts</a:t>
            </a:r>
          </a:p>
          <a:p>
            <a:pPr algn="l"/>
            <a:r>
              <a:rPr sz="1700" b="0">
                <a:solidFill>
                  <a:srgbClr val="111111"/>
                </a:solidFill>
                <a:latin typeface="Calibri"/>
              </a:rPr>
              <a:t>• Polar near rest length → stable, accurate rollouts</a:t>
            </a:r>
          </a:p>
          <a:p>
            <a:pPr algn="l"/>
            <a:r>
              <a:rPr sz="1700" b="0">
                <a:solidFill>
                  <a:srgbClr val="111111"/>
                </a:solidFill>
                <a:latin typeface="Calibri"/>
              </a:rPr>
              <a:t>Sampling strategy matters as much as architecture.</a:t>
            </a:r>
          </a:p>
        </p:txBody>
      </p:sp>
      <p:sp>
        <p:nvSpPr>
          <p:cNvPr id="28" name="Rectangle 27"/>
          <p:cNvSpPr/>
          <p:nvPr/>
        </p:nvSpPr>
        <p:spPr>
          <a:xfrm>
            <a:off x="15148560" y="2171700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148560" y="2171700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Acknowledgements</a:t>
            </a:r>
          </a:p>
        </p:txBody>
      </p:sp>
      <p:sp>
        <p:nvSpPr>
          <p:cNvPr id="30" name="TextBox 29"/>
          <p:cNvSpPr txBox="1"/>
          <p:nvPr/>
        </p:nvSpPr>
        <p:spPr>
          <a:xfrm>
            <a:off x="15148560" y="22357080"/>
            <a:ext cx="13594080" cy="1828800"/>
          </a:xfrm>
          <a:prstGeom prst="rect">
            <a:avLst/>
          </a:prstGeom>
          <a:noFill/>
        </p:spPr>
        <p:txBody>
          <a:bodyPr wrap="square" lIns="137160" rIns="137160" tIns="73152" bIns="73152" anchor="t">
            <a:spAutoFit/>
          </a:bodyPr>
          <a:lstStyle/>
          <a:p>
            <a:pPr algn="l"/>
            <a:r>
              <a:rPr sz="1600" b="0">
                <a:solidFill>
                  <a:srgbClr val="111111"/>
                </a:solidFill>
                <a:latin typeface="Calibri"/>
              </a:rPr>
              <a:t>This work was supported in part by the National Science Foundation under Grants CCF 2230161 and 2230162, and in part by AFOSR under Grant FA9550-22-1-0362.</a:t>
            </a:r>
          </a:p>
        </p:txBody>
      </p:sp>
      <p:sp>
        <p:nvSpPr>
          <p:cNvPr id="31" name="Rectangle 30"/>
          <p:cNvSpPr/>
          <p:nvPr/>
        </p:nvSpPr>
        <p:spPr>
          <a:xfrm>
            <a:off x="29565600" y="484632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565600" y="484632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Side-by-Side Rollout</a:t>
            </a:r>
          </a:p>
        </p:txBody>
      </p:sp>
      <p:pic>
        <p:nvPicPr>
          <p:cNvPr id="33" name="Picture 32" descr="frame_falling.png"/>
          <p:cNvPicPr>
            <a:picLocks noChangeAspect="1"/>
          </p:cNvPicPr>
          <p:nvPr/>
        </p:nvPicPr>
        <p:blipFill>
          <a:blip r:embed="rId4"/>
          <a:stretch>
            <a:fillRect/>
          </a:stretch>
        </p:blipFill>
        <p:spPr>
          <a:xfrm>
            <a:off x="30583632" y="5486400"/>
            <a:ext cx="11558015" cy="4754880"/>
          </a:xfrm>
          <a:prstGeom prst="rect">
            <a:avLst/>
          </a:prstGeom>
        </p:spPr>
      </p:pic>
      <p:sp>
        <p:nvSpPr>
          <p:cNvPr id="34" name="TextBox 33"/>
          <p:cNvSpPr txBox="1"/>
          <p:nvPr/>
        </p:nvSpPr>
        <p:spPr>
          <a:xfrm>
            <a:off x="29565600" y="10287000"/>
            <a:ext cx="13594080" cy="1005840"/>
          </a:xfrm>
          <a:prstGeom prst="rect">
            <a:avLst/>
          </a:prstGeom>
          <a:noFill/>
        </p:spPr>
        <p:txBody>
          <a:bodyPr wrap="square" lIns="137160" rIns="137160" tIns="73152" bIns="73152" anchor="t">
            <a:spAutoFit/>
          </a:bodyPr>
          <a:lstStyle/>
          <a:p>
            <a:pPr algn="l"/>
            <a:r>
              <a:rPr sz="1500" b="0">
                <a:solidFill>
                  <a:srgbClr val="444444"/>
                </a:solidFill>
                <a:latin typeface="Calibri"/>
              </a:rPr>
              <a:t>Reference solver (black, left) vs. BeadMPGNN (red, right) on a 16-bead chain released from horizontal. The GNN tracks the reference through fall, swing, and tip whip.</a:t>
            </a:r>
          </a:p>
        </p:txBody>
      </p:sp>
      <p:sp>
        <p:nvSpPr>
          <p:cNvPr id="35" name="Rectangle 34"/>
          <p:cNvSpPr/>
          <p:nvPr/>
        </p:nvSpPr>
        <p:spPr>
          <a:xfrm>
            <a:off x="29565600" y="1138428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565600" y="1138428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Training Convergence</a:t>
            </a:r>
          </a:p>
        </p:txBody>
      </p:sp>
      <p:pic>
        <p:nvPicPr>
          <p:cNvPr id="37" name="Picture 36" descr="mpgnn_loss_only.png"/>
          <p:cNvPicPr>
            <a:picLocks noChangeAspect="1"/>
          </p:cNvPicPr>
          <p:nvPr/>
        </p:nvPicPr>
        <p:blipFill>
          <a:blip r:embed="rId5"/>
          <a:stretch>
            <a:fillRect/>
          </a:stretch>
        </p:blipFill>
        <p:spPr>
          <a:xfrm>
            <a:off x="34168080" y="12024360"/>
            <a:ext cx="4389120" cy="3657600"/>
          </a:xfrm>
          <a:prstGeom prst="rect">
            <a:avLst/>
          </a:prstGeom>
        </p:spPr>
      </p:pic>
      <p:sp>
        <p:nvSpPr>
          <p:cNvPr id="38" name="TextBox 37"/>
          <p:cNvSpPr txBox="1"/>
          <p:nvPr/>
        </p:nvSpPr>
        <p:spPr>
          <a:xfrm>
            <a:off x="29565600" y="15727680"/>
            <a:ext cx="13594080" cy="822960"/>
          </a:xfrm>
          <a:prstGeom prst="rect">
            <a:avLst/>
          </a:prstGeom>
          <a:noFill/>
        </p:spPr>
        <p:txBody>
          <a:bodyPr wrap="square" lIns="137160" rIns="137160" tIns="73152" bIns="73152" anchor="t">
            <a:spAutoFit/>
          </a:bodyPr>
          <a:lstStyle/>
          <a:p>
            <a:pPr algn="l"/>
            <a:r>
              <a:rPr sz="1500" b="0">
                <a:solidFill>
                  <a:srgbClr val="444444"/>
                </a:solidFill>
                <a:latin typeface="Calibri"/>
              </a:rPr>
              <a:t>Train/validation MSE over 200 epochs. AdamW, lr = 1e−3 with cosine anneal, batch 512, 10% validation split, gradient clipping at norm 1.0.</a:t>
            </a:r>
          </a:p>
        </p:txBody>
      </p:sp>
      <p:sp>
        <p:nvSpPr>
          <p:cNvPr id="39" name="Rectangle 38"/>
          <p:cNvSpPr/>
          <p:nvPr/>
        </p:nvSpPr>
        <p:spPr>
          <a:xfrm>
            <a:off x="29565600" y="1664208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565600" y="1664208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Generalization Across N</a:t>
            </a:r>
          </a:p>
        </p:txBody>
      </p:sp>
      <p:pic>
        <p:nvPicPr>
          <p:cNvPr id="41" name="Picture 40" descr="mpgnn_pos_error_only.png"/>
          <p:cNvPicPr>
            <a:picLocks noChangeAspect="1"/>
          </p:cNvPicPr>
          <p:nvPr/>
        </p:nvPicPr>
        <p:blipFill>
          <a:blip r:embed="rId6"/>
          <a:stretch>
            <a:fillRect/>
          </a:stretch>
        </p:blipFill>
        <p:spPr>
          <a:xfrm>
            <a:off x="34548470" y="17282160"/>
            <a:ext cx="3628339" cy="3657600"/>
          </a:xfrm>
          <a:prstGeom prst="rect">
            <a:avLst/>
          </a:prstGeom>
        </p:spPr>
      </p:pic>
      <p:sp>
        <p:nvSpPr>
          <p:cNvPr id="42" name="TextBox 41"/>
          <p:cNvSpPr txBox="1"/>
          <p:nvPr/>
        </p:nvSpPr>
        <p:spPr>
          <a:xfrm>
            <a:off x="29565600" y="20985480"/>
            <a:ext cx="13594080" cy="914400"/>
          </a:xfrm>
          <a:prstGeom prst="rect">
            <a:avLst/>
          </a:prstGeom>
          <a:noFill/>
        </p:spPr>
        <p:txBody>
          <a:bodyPr wrap="square" lIns="137160" rIns="137160" tIns="73152" bIns="73152" anchor="t">
            <a:spAutoFit/>
          </a:bodyPr>
          <a:lstStyle/>
          <a:p>
            <a:pPr algn="l"/>
            <a:r>
              <a:rPr sz="1500" b="0">
                <a:solidFill>
                  <a:srgbClr val="444444"/>
                </a:solidFill>
                <a:latin typeface="Calibri"/>
              </a:rPr>
              <a:t>Mean position error vs. reference for N ∈ {8, 10, 12, 16, 20, 24, 32}. Short to medium chains track closely; longer chains show expected drift from compounding per-step errors.</a:t>
            </a:r>
          </a:p>
        </p:txBody>
      </p:sp>
      <p:sp>
        <p:nvSpPr>
          <p:cNvPr id="43" name="Rectangle 42"/>
          <p:cNvSpPr/>
          <p:nvPr/>
        </p:nvSpPr>
        <p:spPr>
          <a:xfrm>
            <a:off x="29565600" y="21991320"/>
            <a:ext cx="13594080" cy="640080"/>
          </a:xfrm>
          <a:prstGeom prst="rect">
            <a:avLst/>
          </a:prstGeom>
          <a:solidFill>
            <a:srgbClr val="0033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565600" y="21991320"/>
            <a:ext cx="13594080" cy="640080"/>
          </a:xfrm>
          <a:prstGeom prst="rect">
            <a:avLst/>
          </a:prstGeom>
          <a:noFill/>
        </p:spPr>
        <p:txBody>
          <a:bodyPr wrap="square" lIns="137160" rIns="137160" tIns="73152" bIns="73152" anchor="ctr">
            <a:spAutoFit/>
          </a:bodyPr>
          <a:lstStyle/>
          <a:p>
            <a:pPr algn="l"/>
            <a:r>
              <a:rPr sz="2800" b="1">
                <a:solidFill>
                  <a:srgbClr val="FFFFFF"/>
                </a:solidFill>
                <a:latin typeface="Calibri"/>
              </a:rPr>
              <a:t>Conclusions</a:t>
            </a:r>
          </a:p>
        </p:txBody>
      </p:sp>
      <p:sp>
        <p:nvSpPr>
          <p:cNvPr id="45" name="TextBox 44"/>
          <p:cNvSpPr txBox="1"/>
          <p:nvPr/>
        </p:nvSpPr>
        <p:spPr>
          <a:xfrm>
            <a:off x="29565600" y="22631400"/>
            <a:ext cx="13594080" cy="8915400"/>
          </a:xfrm>
          <a:prstGeom prst="rect">
            <a:avLst/>
          </a:prstGeom>
          <a:noFill/>
        </p:spPr>
        <p:txBody>
          <a:bodyPr wrap="square" lIns="137160" rIns="137160" tIns="73152" bIns="73152" anchor="t">
            <a:spAutoFit/>
          </a:bodyPr>
          <a:lstStyle/>
          <a:p>
            <a:pPr algn="l"/>
            <a:r>
              <a:rPr sz="1600" b="0">
                <a:solidFill>
                  <a:srgbClr val="111111"/>
                </a:solidFill>
                <a:latin typeface="Calibri"/>
              </a:rPr>
              <a:t>• Sampling strategy is as important as architecture. Polar sampling near rest length is required; Cartesian uniform sampling fails.</a:t>
            </a:r>
          </a:p>
          <a:p>
            <a:pPr algn="l"/>
            <a:r>
              <a:rPr sz="1600" b="0">
                <a:solidFill>
                  <a:srgbClr val="111111"/>
                </a:solidFill>
                <a:latin typeface="Calibri"/>
              </a:rPr>
              <a:t>• MPGNN with weight sharing + ghost masking enables one model across chain lengths.</a:t>
            </a:r>
          </a:p>
          <a:p>
            <a:pPr algn="l"/>
            <a:r>
              <a:rPr sz="1600" b="0">
                <a:solidFill>
                  <a:srgbClr val="111111"/>
                </a:solidFill>
                <a:latin typeface="Calibri"/>
              </a:rPr>
              <a:t>• Volume sampling covers reachable state space — no trajectory recording needed.</a:t>
            </a:r>
          </a:p>
          <a:p>
            <a:pPr algn="l"/>
            <a:r>
              <a:rPr sz="1600" b="0">
                <a:solidFill>
                  <a:srgbClr val="111111"/>
                </a:solidFill>
                <a:latin typeface="Calibri"/>
              </a:rPr>
              <a:t>• Model generalizes to unseen N, orientations, and velocities within sampling bounds.</a:t>
            </a:r>
          </a:p>
          <a:p>
            <a:pPr algn="l"/>
            <a:r>
              <a:rPr sz="1600" b="0">
                <a:solidFill>
                  <a:srgbClr val="111111"/>
                </a:solidFill>
                <a:latin typeface="Calibri"/>
              </a:rPr>
              <a:t>• Future: rollout training to reduce drift; K &gt; 1 message passing for longer-range effects.</a:t>
            </a:r>
          </a:p>
        </p:txBody>
      </p:sp>
      <p:sp>
        <p:nvSpPr>
          <p:cNvPr id="46" name="Rectangle 45"/>
          <p:cNvSpPr/>
          <p:nvPr/>
        </p:nvSpPr>
        <p:spPr>
          <a:xfrm>
            <a:off x="0" y="32004000"/>
            <a:ext cx="43891200" cy="914400"/>
          </a:xfrm>
          <a:prstGeom prst="rect">
            <a:avLst/>
          </a:prstGeom>
          <a:solidFill>
            <a:srgbClr val="002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32004000"/>
            <a:ext cx="42793920" cy="914400"/>
          </a:xfrm>
          <a:prstGeom prst="rect">
            <a:avLst/>
          </a:prstGeom>
          <a:noFill/>
        </p:spPr>
        <p:txBody>
          <a:bodyPr wrap="square" lIns="137160" rIns="137160" tIns="73152" bIns="73152" anchor="ctr">
            <a:spAutoFit/>
          </a:bodyPr>
          <a:lstStyle/>
          <a:p>
            <a:pPr algn="ctr"/>
            <a:r>
              <a:rPr sz="2200" b="0">
                <a:solidFill>
                  <a:srgbClr val="FFFFFF"/>
                </a:solidFill>
                <a:latin typeface="Calibri"/>
              </a:rPr>
              <a:t>ECE Symposium 2026  ·  Department of Electrical and Computer Engineering  ·  University of Kentucky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